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7"/>
  </p:notesMasterIdLst>
  <p:sldIdLst>
    <p:sldId id="256" r:id="rId5"/>
    <p:sldId id="257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0" d="100"/>
          <a:sy n="60" d="100"/>
        </p:scale>
        <p:origin x="81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elo Bezerra Grilo Junior" userId="a02ec483-515f-47be-a639-182474e43b5c" providerId="ADAL" clId="{91B95A80-C0F5-47C7-AB00-9C49AC0FAF8E}"/>
    <pc:docChg chg="delSld">
      <pc:chgData name="Marcelo Bezerra Grilo Junior" userId="a02ec483-515f-47be-a639-182474e43b5c" providerId="ADAL" clId="{91B95A80-C0F5-47C7-AB00-9C49AC0FAF8E}" dt="2026-08-04T00:06:52.698" v="0" actId="47"/>
      <pc:docMkLst>
        <pc:docMk/>
      </pc:docMkLst>
      <pc:sldChg chg="del">
        <pc:chgData name="Marcelo Bezerra Grilo Junior" userId="a02ec483-515f-47be-a639-182474e43b5c" providerId="ADAL" clId="{91B95A80-C0F5-47C7-AB00-9C49AC0FAF8E}" dt="2026-08-04T00:06:52.698" v="0" actId="47"/>
        <pc:sldMkLst>
          <pc:docMk/>
          <pc:sldMk cId="0" sldId="258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 algn="l">
              <a:defRPr sz="1300" b="0" i="0" u="none" strike="noStrike">
                <a:solidFill>
                  <a:srgbClr val="FFFFFF"/>
                </a:solidFill>
                <a:latin typeface="Calibri"/>
              </a:defRPr>
            </a:pPr>
            <a:r>
              <a:rPr lang="pt-BR" sz="1300" b="0" i="0" u="none" strike="noStrike">
                <a:solidFill>
                  <a:srgbClr val="FFFFFF"/>
                </a:solidFill>
                <a:latin typeface="Calibri"/>
              </a:rPr>
              <a:t>Desligamentos por ano, segundo a iniciativa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Pediram demissão</c:v>
                </c:pt>
              </c:strCache>
            </c:strRef>
          </c:tx>
          <c:spPr>
            <a:ln w="38100" cap="flat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1177</c:v>
                </c:pt>
                <c:pt idx="1">
                  <c:v>1027</c:v>
                </c:pt>
                <c:pt idx="2">
                  <c:v>1200</c:v>
                </c:pt>
                <c:pt idx="3">
                  <c:v>1334</c:v>
                </c:pt>
                <c:pt idx="4">
                  <c:v>1655</c:v>
                </c:pt>
                <c:pt idx="5">
                  <c:v>2415</c:v>
                </c:pt>
                <c:pt idx="6">
                  <c:v>2310</c:v>
                </c:pt>
                <c:pt idx="7">
                  <c:v>2745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228-4EDB-9213-67FCE9FD0C8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Desligados pela empresa</c:v>
                </c:pt>
              </c:strCache>
            </c:strRef>
          </c:tx>
          <c:spPr>
            <a:ln w="38100" cap="flat">
              <a:solidFill>
                <a:srgbClr val="9BAAB4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9BAAB4"/>
              </a:solidFill>
              <a:ln w="9525" cap="flat">
                <a:solidFill>
                  <a:srgbClr val="9BAAB4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973</c:v>
                </c:pt>
                <c:pt idx="1">
                  <c:v>860</c:v>
                </c:pt>
                <c:pt idx="2">
                  <c:v>769</c:v>
                </c:pt>
                <c:pt idx="3">
                  <c:v>754</c:v>
                </c:pt>
                <c:pt idx="4">
                  <c:v>715</c:v>
                </c:pt>
                <c:pt idx="5">
                  <c:v>736</c:v>
                </c:pt>
                <c:pt idx="6">
                  <c:v>719</c:v>
                </c:pt>
                <c:pt idx="7">
                  <c:v>754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228-4EDB-9213-67FCE9FD0C8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E3B45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BAAB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000"/>
          <c:min val="0"/>
        </c:scaling>
        <c:delete val="0"/>
        <c:axPos val="l"/>
        <c:majorGridlines>
          <c:spPr>
            <a:ln w="12700" cap="flat">
              <a:solidFill>
                <a:srgbClr val="2E3B4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2E3B45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BAAB4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100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9BAAB4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 algn="l">
              <a:defRPr sz="1300" b="0" i="0" u="none" strike="noStrike">
                <a:solidFill>
                  <a:srgbClr val="1F2A33"/>
                </a:solidFill>
                <a:latin typeface="Calibri"/>
              </a:defRPr>
            </a:pPr>
            <a:r>
              <a:rPr lang="pt-BR" sz="1300" b="0" i="0" u="none" strike="noStrike">
                <a:solidFill>
                  <a:srgbClr val="1F2A33"/>
                </a:solidFill>
                <a:latin typeface="Calibri"/>
              </a:rPr>
              <a:t>Saídas a pedido do colaborador, por tempo de casa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Saída voluntária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DB6-4064-B66A-BB8470BB52BA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4DB6-4064-B66A-BB8470BB52BA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4DB6-4064-B66A-BB8470BB52BA}"/>
              </c:ext>
            </c:extLst>
          </c:dPt>
          <c:dPt>
            <c:idx val="3"/>
            <c:invertIfNegative val="0"/>
            <c:bubble3D val="0"/>
            <c:spPr>
              <a:solidFill>
                <a:srgbClr val="9BAAB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DB6-4064-B66A-BB8470BB52BA}"/>
              </c:ext>
            </c:extLst>
          </c:dPt>
          <c:dPt>
            <c:idx val="4"/>
            <c:invertIfNegative val="0"/>
            <c:bubble3D val="0"/>
            <c:spPr>
              <a:solidFill>
                <a:srgbClr val="9BAAB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4DB6-4064-B66A-BB8470BB52BA}"/>
              </c:ext>
            </c:extLst>
          </c:dPt>
          <c:dPt>
            <c:idx val="5"/>
            <c:invertIfNegative val="0"/>
            <c:bubble3D val="0"/>
            <c:spPr>
              <a:solidFill>
                <a:srgbClr val="9BAAB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4DB6-4064-B66A-BB8470BB52BA}"/>
              </c:ext>
            </c:extLst>
          </c:dPt>
          <c:dPt>
            <c:idx val="6"/>
            <c:invertIfNegative val="0"/>
            <c:bubble3D val="0"/>
            <c:spPr>
              <a:solidFill>
                <a:srgbClr val="9BAAB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4DB6-4064-B66A-BB8470BB52BA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A33"/>
                    </a:solidFill>
                    <a:latin typeface="Calibri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Até 3m</c:v>
                </c:pt>
                <c:pt idx="1">
                  <c:v>3–6m</c:v>
                </c:pt>
                <c:pt idx="2">
                  <c:v>6m–1a</c:v>
                </c:pt>
                <c:pt idx="3">
                  <c:v>1–2a</c:v>
                </c:pt>
                <c:pt idx="4">
                  <c:v>2–5a</c:v>
                </c:pt>
                <c:pt idx="5">
                  <c:v>5–10a</c:v>
                </c:pt>
                <c:pt idx="6">
                  <c:v>10a+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59.4</c:v>
                </c:pt>
                <c:pt idx="1">
                  <c:v>72.2</c:v>
                </c:pt>
                <c:pt idx="2">
                  <c:v>62</c:v>
                </c:pt>
                <c:pt idx="3">
                  <c:v>53.5</c:v>
                </c:pt>
                <c:pt idx="4">
                  <c:v>38.200000000000003</c:v>
                </c:pt>
                <c:pt idx="5">
                  <c:v>23.2</c:v>
                </c:pt>
                <c:pt idx="6">
                  <c:v>11.2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4DB6-4064-B66A-BB8470BB52B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DE3E7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A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5"/>
          <c:min val="0"/>
        </c:scaling>
        <c:delete val="0"/>
        <c:axPos val="l"/>
        <c:majorGridlines>
          <c:spPr>
            <a:ln w="12700" cap="flat">
              <a:solidFill>
                <a:srgbClr val="DDE3E7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DDE3E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A8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7909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GABARITO — SLIDE 1
A entrega aqui é a CORREÇÃO da premissa da Marina, não a confirmação dela. Ela estava certa no efeito (o turnover subiu) e errada na causa (achava que era desligamento).
O que o gráfico prova: a linha cinza é praticamente reta (973 -&gt; 754). A empresa não passou a demitir mais. Toda a alta é a linha vermelha.
A virada é o 2o semestre de 2020, visível no heatmap mensal: abr/2020 e o minimo da serie (54 saidas, congelamento da pandemia) e a partir de jul/2020 o patamar muda e nunca mais volta. 2023 foi so quando a diretoria percebeu.
Consequencia de negocio: o problema e de RETENCAO, nao de gestao de desligamentos. Isso muda area responsavel, orcamento e conversa.
O que checar na versao dos alunos: (1) cortaram 2024? o ano incompleto faz o turnover parecer que despencou; (2) separaram as duas iniciativas? quem plotou so o total nao consegue fazer esta afirmacao; (3) apontaram 2020 e nao 2023?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GABARITO — SLIDE 2
Ordem importa: o slide comeca pela variavel que mais separa (tempo de casa, 61 p.p. entre extremos) e nao pela ordem em que as analises foram rodadas.
As barras cinzas x vermelhas: o vermelho marca onde esta o problema (ate 1 ano). Visualmente ja entrega a recomendacao — o dinheiro vai para onboarding, nao para plano de carreira senior.
O card verde e o ACHADO NEGATIVO, e ele e obrigatorio. Duas evidencias independentes derrubam a hipotese mais popular do RH: as medianas salariais sao indistinguiveis E o motivo declarado 'insatisfacao com salario' e residual. Isso poupa a empresa de um reajuste linear que nao resolveria nada.
Ressalvas que o aluno deve saber defender se perguntado: (1) faixas curtas concentram mais gente porque todo mundo passa por elas — a comparacao justa e voluntario x involuntario DENTRO da faixa; (2) idade pode ser tempo de casa disfarcado; (3) diferenca entre unidades pode ser composicao, nao gestao.
O que NAO pode aparecer neste slide: mérito/promoção como fator de retencao. Quem colocou isso caiu no paradoxo de Simpson.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BA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  ·  O DIAGNÓSTICO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pessoas estão indo embora —</a:t>
            </a:r>
            <a:endParaRPr lang="en-US" sz="3000" dirty="0"/>
          </a:p>
          <a:p>
            <a:pPr marL="0" indent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empresa não está demitindo mais.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02920" y="1965960"/>
          <a:ext cx="722376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092440" y="2084832"/>
            <a:ext cx="3566160" cy="1207008"/>
          </a:xfrm>
          <a:prstGeom prst="roundRect">
            <a:avLst>
              <a:gd name="adj" fmla="val 4545"/>
            </a:avLst>
          </a:prstGeom>
          <a:solidFill>
            <a:srgbClr val="2E3B45"/>
          </a:solidFill>
          <a:ln w="12700">
            <a:solidFill>
              <a:srgbClr val="2E3B4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8321040" y="221284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+133%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8321040" y="27432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9BA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 de demissão</a:t>
            </a:r>
            <a:endParaRPr lang="en-US" sz="11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9BA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2016 e 2023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8092440" y="3502152"/>
            <a:ext cx="3566160" cy="1207008"/>
          </a:xfrm>
          <a:prstGeom prst="roundRect">
            <a:avLst>
              <a:gd name="adj" fmla="val 4545"/>
            </a:avLst>
          </a:prstGeom>
          <a:solidFill>
            <a:srgbClr val="2E3B45"/>
          </a:solidFill>
          <a:ln w="12700">
            <a:solidFill>
              <a:srgbClr val="2E3B4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8321040" y="363016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9BAA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−23%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8321040" y="41605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9BA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desligamentos pela empresa</a:t>
            </a:r>
            <a:endParaRPr lang="en-US" sz="11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9BA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mesmo período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092440" y="4919472"/>
            <a:ext cx="3566160" cy="1207008"/>
          </a:xfrm>
          <a:prstGeom prst="roundRect">
            <a:avLst>
              <a:gd name="adj" fmla="val 4545"/>
            </a:avLst>
          </a:prstGeom>
          <a:solidFill>
            <a:srgbClr val="2E3B45"/>
          </a:solidFill>
          <a:ln w="12700">
            <a:solidFill>
              <a:srgbClr val="2E3B4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8321040" y="504748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2º sem. 2020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8321040" y="55778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9BA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a curva virou —</a:t>
            </a:r>
            <a:endParaRPr lang="en-US" sz="11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9BA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2023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 ·  O PERFIL DE RISCO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problema de entrada, não de carreira.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20700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44% dos pedidos de demissão vêm de quem tem menos de 6 meses de casa. 64%, de quem não completou um ano.</a:t>
            </a:r>
            <a:endParaRPr lang="en-US" sz="1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02920" y="1783080"/>
          <a:ext cx="649224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7360920" y="1847088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MAIS SEPARA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360920" y="2340864"/>
            <a:ext cx="731520" cy="82296"/>
          </a:xfrm>
          <a:prstGeom prst="rect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8229600" y="215798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de casa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229600" y="236829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3–6 meses: 72%  ·  10 anos+: 11%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360920" y="2816352"/>
            <a:ext cx="599607" cy="82296"/>
          </a:xfrm>
          <a:prstGeom prst="rect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8229600" y="263347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Região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229600" y="284378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 62% e RS 59%  ·  BA 12%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360920" y="3291840"/>
            <a:ext cx="359764" cy="82296"/>
          </a:xfrm>
          <a:prstGeom prst="rect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8229600" y="310896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229600" y="331927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Ipumirim 70%  ·  TSP 41%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360920" y="3767328"/>
            <a:ext cx="335780" cy="82296"/>
          </a:xfrm>
          <a:prstGeom prst="rect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8229600" y="358444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229600" y="379476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 53%  ·  Comercial 25%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360920" y="4242816"/>
            <a:ext cx="323788" cy="82296"/>
          </a:xfrm>
          <a:prstGeom prst="rect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7"/>
          <p:cNvSpPr/>
          <p:nvPr/>
        </p:nvSpPr>
        <p:spPr>
          <a:xfrm>
            <a:off x="8229600" y="405993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Idade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229600" y="427024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19–25: 58%  ·  45+: 32%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360920" y="4718304"/>
            <a:ext cx="107929" cy="82296"/>
          </a:xfrm>
          <a:prstGeom prst="rect">
            <a:avLst/>
          </a:prstGeom>
          <a:solidFill>
            <a:srgbClr val="9BAAB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0"/>
          <p:cNvSpPr/>
          <p:nvPr/>
        </p:nvSpPr>
        <p:spPr>
          <a:xfrm>
            <a:off x="8229600" y="453542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229600" y="474573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2º turno 58%  ·  1º turno 53%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7360920" y="5138928"/>
            <a:ext cx="4343400" cy="987552"/>
          </a:xfrm>
          <a:prstGeom prst="roundRect">
            <a:avLst>
              <a:gd name="adj" fmla="val 5556"/>
            </a:avLst>
          </a:prstGeom>
          <a:solidFill>
            <a:srgbClr val="DCEBEB"/>
          </a:solidFill>
          <a:ln w="12700">
            <a:solidFill>
              <a:srgbClr val="DCEB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3"/>
          <p:cNvSpPr/>
          <p:nvPr/>
        </p:nvSpPr>
        <p:spPr>
          <a:xfrm>
            <a:off x="7589520" y="526694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o que NÃO separa: salário.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7589520" y="55321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R$ 1.402 (pediu) vs R$ 1.381 (foi desligado). E só 1,7% declara sair por salário.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DBCE9A661376C4CA6E749248538AA2E" ma:contentTypeVersion="17" ma:contentTypeDescription="Create a new document." ma:contentTypeScope="" ma:versionID="27789a40d267e0940964831f5c2d4419">
  <xsd:schema xmlns:xsd="http://www.w3.org/2001/XMLSchema" xmlns:xs="http://www.w3.org/2001/XMLSchema" xmlns:p="http://schemas.microsoft.com/office/2006/metadata/properties" xmlns:ns2="cc394e48-27f0-4ede-bc43-58f753f8f173" xmlns:ns3="e233c751-149c-47fd-a32f-6b21c2b8e335" targetNamespace="http://schemas.microsoft.com/office/2006/metadata/properties" ma:root="true" ma:fieldsID="fe4233c0a4f0e2dd8d5ef5ed115e97dc" ns2:_="" ns3:_="">
    <xsd:import namespace="cc394e48-27f0-4ede-bc43-58f753f8f173"/>
    <xsd:import namespace="e233c751-149c-47fd-a32f-6b21c2b8e33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394e48-27f0-4ede-bc43-58f753f8f17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d5d3544-ffb2-4adf-b919-2cd17e9db4c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33c751-149c-47fd-a32f-6b21c2b8e335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c13202e6-198d-4c27-bda5-b5e388b443b1}" ma:internalName="TaxCatchAll" ma:showField="CatchAllData" ma:web="e233c751-149c-47fd-a32f-6b21c2b8e33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233c751-149c-47fd-a32f-6b21c2b8e335" xsi:nil="true"/>
    <lcf76f155ced4ddcb4097134ff3c332f xmlns="cc394e48-27f0-4ede-bc43-58f753f8f173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FC7FF45B-1206-40CF-A816-C2CA81589DD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5D7E189-9F6C-4A96-80F1-4554ECBE95E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c394e48-27f0-4ede-bc43-58f753f8f173"/>
    <ds:schemaRef ds:uri="e233c751-149c-47fd-a32f-6b21c2b8e33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7C9C3DE-53F3-4DDB-90E9-23DB0511E583}">
  <ds:schemaRefs>
    <ds:schemaRef ds:uri="http://schemas.microsoft.com/office/2006/metadata/properties"/>
    <ds:schemaRef ds:uri="http://schemas.microsoft.com/office/infopath/2007/PartnerControls"/>
    <ds:schemaRef ds:uri="e233c751-149c-47fd-a32f-6b21c2b8e335"/>
    <ds:schemaRef ds:uri="cc394e48-27f0-4ede-bc43-58f753f8f17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644</Words>
  <Application>Microsoft Office PowerPoint</Application>
  <PresentationFormat>Widescreen</PresentationFormat>
  <Paragraphs>36</Paragraphs>
  <Slides>2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6" baseType="lpstr">
      <vt:lpstr>Arial</vt:lpstr>
      <vt:lpstr>Calibri</vt:lpstr>
      <vt:lpstr>Cambria</vt:lpstr>
      <vt:lpstr>Office Theme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Marcelo Bezerra Grilo Junior</cp:lastModifiedBy>
  <cp:revision>1</cp:revision>
  <dcterms:created xsi:type="dcterms:W3CDTF">2026-08-04T00:03:06Z</dcterms:created>
  <dcterms:modified xsi:type="dcterms:W3CDTF">2026-08-04T00:06:55Z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0x010100BDBCE9A661376C4CA6E749248538AA2E</vt:lpwstr>
  </property>
  <property fmtid="{D5CDD505-2E9C-101B-9397-08002B2CF9AE}" pid="3" name="MediaServiceImageTags">
    <vt:lpwstr/>
  </property>
</Properties>
</file>